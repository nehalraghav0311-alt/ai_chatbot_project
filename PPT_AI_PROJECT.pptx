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Inter"/>
      <p:bold r:id="rId21"/>
    </p:embeddedFont>
    <p:embeddedFont>
      <p:font typeface="Playfair Display" panose="00000500000000000000" pitchFamily="2" charset="0"/>
      <p:bold r:id="rId22"/>
    </p:embeddedFont>
    <p:embeddedFont>
      <p:font typeface="Space Grotesk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079503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1740396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Space Grotesk"/>
              </a:rPr>
              <a:t>COMPREHENSIVE ACADEMIC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69021"/>
            <a:ext cx="10101262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Space Grotesk"/>
              </a:rPr>
              <a:t>Algorithms, Data Structures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82342"/>
            <a:ext cx="7715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An exhaustive analysis of R Programming environments, Artificial Intelligence search constraints, and predictive optimization models.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294632"/>
            <a:ext cx="6667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Space Grotesk"/>
              </a:rPr>
              <a:t>PART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66107"/>
            <a:ext cx="570071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The R Programming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68067"/>
            <a:ext cx="5429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Statistical computing, vectorized operations, and advanced data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676400"/>
            <a:ext cx="52959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86500" y="1676400"/>
            <a:ext cx="52959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 Foundations &amp;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1990725"/>
            <a:ext cx="61257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Space Grotesk"/>
              </a:rPr>
              <a:t>Origins &amp; Core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1990725"/>
            <a:ext cx="55911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Space Grotesk"/>
              </a:rPr>
              <a:t>System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51460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S Language Basis: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Open-source implementation of Bell Labs' 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12420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Vectorization: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Avoids explicit loops via C/Fortran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3380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Extensibility: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CRAN package ecosystem architecture.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251460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Memory Management: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Strictly RAM-bound data 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12420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Execution Speed: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Slower than compiled C++ or Java.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73380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Security Models: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Unsuited for high-security web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04950"/>
            <a:ext cx="5372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04950"/>
            <a:ext cx="5372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162300"/>
            <a:ext cx="5372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162300"/>
            <a:ext cx="5372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04950"/>
            <a:ext cx="53721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0300" y="1504950"/>
            <a:ext cx="53721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162300"/>
            <a:ext cx="53721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3162300"/>
            <a:ext cx="53721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381000" y="609600"/>
            <a:ext cx="12954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Space Grotesk"/>
              </a:rPr>
              <a:t>Fundamental R Data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47850"/>
            <a:ext cx="62507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Vectors c()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28850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1D sequence of identical data types (numeric, character, logical).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18478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Factors factor()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2228850"/>
            <a:ext cx="56769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Categorical data stored as integers with assigned levels.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05200"/>
            <a:ext cx="62507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Matrices matrix()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5953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2D rectangular datasets requiring uniform data types.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350520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Lists list()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886200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Flexible arrays holding heterogeneous objects and nested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676400"/>
            <a:ext cx="3454449" cy="45720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68849" y="1676400"/>
            <a:ext cx="3454449" cy="45720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1705896"/>
            <a:ext cx="3454449" cy="45720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Tabular Data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1200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Base data.frame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49" y="1981200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data.table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2899" y="1981200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tibble (tidyverse)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88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Standard 2D heterogeneous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3225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Legacy string-to-factor coercions.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49" y="2428875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Syntax: DT[i, j, by].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49" y="2743200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Memory-efficient reference modifications.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899" y="2428875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Strict subsetting rules.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99" y="2743200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Enhanced console printing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564159"/>
            <a:ext cx="5220652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Functional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798540"/>
            <a:ext cx="4972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BFDBFE"/>
                </a:solidFill>
                <a:latin typeface="Inter"/>
              </a:rPr>
              <a:t>Treating computation as mathematical evaluation, minimizing state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1966912"/>
            <a:ext cx="54864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Lexical Scoping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2338387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Variables resolved by function definition environment, not execution 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3043237"/>
            <a:ext cx="54864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Closures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3414712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Functions recalling parent environments after execution completes.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4119562"/>
            <a:ext cx="54864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Higher-Order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4491037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Executing functions upon functions (e.g., lapply, purrr::map).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294632"/>
            <a:ext cx="6667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Space Grotesk"/>
              </a:rPr>
              <a:t>PART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66107"/>
            <a:ext cx="570071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68067"/>
            <a:ext cx="5429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Search algorithms, heuristics, local maxima, and formal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676400"/>
            <a:ext cx="2571750" cy="1352550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9950" y="1676400"/>
            <a:ext cx="2571750" cy="1352550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1676400"/>
            <a:ext cx="2571750" cy="1352550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10650" y="1676400"/>
            <a:ext cx="2571750" cy="1352550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1676400"/>
            <a:ext cx="38100" cy="1352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9950" y="1676400"/>
            <a:ext cx="38100" cy="1352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1676400"/>
            <a:ext cx="38100" cy="1352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10650" y="1676400"/>
            <a:ext cx="38100" cy="1352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Formal Problem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1981200"/>
            <a:ext cx="252531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1. Initial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234315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Starting condition of the agent.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2850" y="1981200"/>
            <a:ext cx="252531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2.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2850" y="234315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Set of allowable state movements.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1981200"/>
            <a:ext cx="252531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3. Transition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234315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Mapping resulting state given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3550" y="1981200"/>
            <a:ext cx="252531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4. Goal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3550" y="234315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Evaluation of success condition.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6475" y="4238625"/>
            <a:ext cx="19050" cy="771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257" y="2743200"/>
            <a:ext cx="5221337" cy="1114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907" y="3162300"/>
            <a:ext cx="3964037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81000" y="609600"/>
            <a:ext cx="12954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Space Grotesk"/>
              </a:rPr>
              <a:t>Informed Search: A*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3773" y="4238625"/>
            <a:ext cx="481310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800" b="1" i="0" u="none">
                <a:solidFill>
                  <a:srgbClr val="0F172A"/>
                </a:solidFill>
                <a:latin typeface="Space Grotesk"/>
              </a:rPr>
              <a:t>g(n): Path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2968" y="4610100"/>
            <a:ext cx="4583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0" i="0" u="none">
                <a:solidFill>
                  <a:srgbClr val="64748B"/>
                </a:solidFill>
                <a:latin typeface="Inter"/>
              </a:rPr>
              <a:t>Exact cost from start to node 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4238625"/>
            <a:ext cx="481310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h(n): Admissible Heuristic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4610100"/>
            <a:ext cx="3762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Estimated cost to goal (e.g., Misplaced Tiles).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133725"/>
            <a:ext cx="3454449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68849" y="3133725"/>
            <a:ext cx="3454449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3133725"/>
            <a:ext cx="3454449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Hill Climbing &amp; Local Optima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38525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Space Grotesk"/>
              </a:rPr>
              <a:t>Local Maxima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29400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Peak higher than neighbors, but below global optimum. Requires back-propagation.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49" y="3438525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Space Grotesk"/>
              </a:rPr>
              <a:t>Plateaus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886200"/>
            <a:ext cx="29400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Flat search space evaluating to identical utility. Requires random large jumps.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899" y="3438525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Space Grotesk"/>
              </a:rPr>
              <a:t>Ridges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886200"/>
            <a:ext cx="29400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Sequence of local maxima forming an axis. Demands multidirectional movement.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815530"/>
            <a:ext cx="64008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Adversarial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547020"/>
            <a:ext cx="4972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ECACA"/>
                </a:solidFill>
                <a:latin typeface="Inter"/>
              </a:rPr>
              <a:t>Multi-agent competitive game theory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376487"/>
            <a:ext cx="2098010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Space Grotesk"/>
              </a:rPr>
              <a:t>Minmax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2833687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Recursive depth-first evaluation assuming optimal opponent 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3614737"/>
            <a:ext cx="5486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Alpha-Beta Pruning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4071937"/>
            <a:ext cx="49720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Eliminates sub-optimal branches where α ≥ β, cutting exponential search costs.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6475" y="3571875"/>
            <a:ext cx="19050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381000" y="2524125"/>
            <a:ext cx="12954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Space Grotesk"/>
              </a:rPr>
              <a:t>Formal Logic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888" y="3600450"/>
            <a:ext cx="6388298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DC2626"/>
                </a:solidFill>
                <a:latin typeface="Playfair Display"/>
              </a:rPr>
              <a:t>Propositional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90" y="4105275"/>
            <a:ext cx="6084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Boolean facts. Absolute True/False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9813" y="3600450"/>
            <a:ext cx="6388298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DC2626"/>
                </a:solidFill>
                <a:latin typeface="Playfair Display"/>
              </a:rPr>
              <a:t>First-Order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1915" y="4105275"/>
            <a:ext cx="6084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Objects, relations, and universal/existential quantifiers.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587972"/>
            <a:ext cx="6667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Space Grotesk"/>
              </a:rPr>
              <a:t>PART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59447"/>
            <a:ext cx="7000875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774727"/>
            <a:ext cx="5429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Regression formulas, gradient descent, and bias-variance balancing.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748" y="1504950"/>
            <a:ext cx="3505051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504950"/>
            <a:ext cx="3505051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051" y="1504950"/>
            <a:ext cx="3505051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748" y="1504950"/>
            <a:ext cx="3505051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1504950"/>
            <a:ext cx="3505051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051" y="1504950"/>
            <a:ext cx="3505051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381000" y="609600"/>
            <a:ext cx="12954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Space Grotesk"/>
              </a:rPr>
              <a:t>Core Learning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548" y="1847850"/>
            <a:ext cx="380027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Supervised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548" y="2257425"/>
            <a:ext cx="299070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Algorithms trained on explicit labeled input-output pairs.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1847850"/>
            <a:ext cx="380027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Unsupervised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2257425"/>
            <a:ext cx="299070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Pattern clustering within unstructured, unlabeled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851" y="1847850"/>
            <a:ext cx="380027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Reinforcement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851" y="2257425"/>
            <a:ext cx="299070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State-action pairs optimized via reward/punishment signals.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0" y="3257550"/>
            <a:ext cx="548640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09652"/>
            <a:ext cx="2320230" cy="3052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Linear Regression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62350"/>
            <a:ext cx="5791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Mean Squared Error (MSE)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62400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Cost function quantifying average squared difference between predicted and actual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14898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a0: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Y-intercept (baseline degree of freedom).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57798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a1: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Linear scale coefficient.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400698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ε: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Random error term.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939355"/>
            <a:ext cx="64008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Gradient Descent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670845"/>
            <a:ext cx="6096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Inter"/>
              </a:rPr>
              <a:t>Iterative optimization to minimize cost functions.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1800" y="2571750"/>
            <a:ext cx="15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200" y="2590800"/>
            <a:ext cx="5257800" cy="2476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Initialize weights randomly.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175" y="3048000"/>
            <a:ext cx="2000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3067050"/>
            <a:ext cx="5257800" cy="24765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Calculate MSE cost gradient.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175" y="3524250"/>
            <a:ext cx="2000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0" y="3543300"/>
            <a:ext cx="5257800" cy="24765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Update coefficients via Learning Rate (α).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175" y="4000500"/>
            <a:ext cx="2000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4019550"/>
            <a:ext cx="5257800" cy="24765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Repeat until convergence threshold met.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33500" y="3048000"/>
            <a:ext cx="4572000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048000"/>
            <a:ext cx="4572000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33192" y="2152650"/>
            <a:ext cx="4925615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Space Grotesk"/>
              </a:rPr>
              <a:t>Bias-Variance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187" y="3429000"/>
            <a:ext cx="50006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59669"/>
                </a:solidFill>
                <a:latin typeface="Space Grotesk"/>
              </a:rPr>
              <a:t>Underfitting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8250" y="3924300"/>
            <a:ext cx="4762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High Bias. Model fails to capture underlying data trends.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2187" y="3429000"/>
            <a:ext cx="50006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59669"/>
                </a:solidFill>
                <a:latin typeface="Space Grotesk"/>
              </a:rPr>
              <a:t>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3924300"/>
            <a:ext cx="4762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High Variance. Model maps explicit training noise.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676400"/>
            <a:ext cx="3403550" cy="4572000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94150" y="1676400"/>
            <a:ext cx="3403550" cy="4572000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78700" y="1676400"/>
            <a:ext cx="3403550" cy="4572000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Overfitting Mitigation: Regularization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1200"/>
            <a:ext cx="366705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Space Grotesk"/>
              </a:rPr>
              <a:t>L1 (Lasso)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8875"/>
            <a:ext cx="2889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Adds absolute coefficient magnitude penalty. Enforces feature sparsity.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950" y="1981200"/>
            <a:ext cx="366705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Space Grotesk"/>
              </a:rPr>
              <a:t>L2 (Ridge)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8950" y="2428875"/>
            <a:ext cx="2889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Adds squared coefficient magnitude penalty. Handles multicollinearity.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3500" y="1981200"/>
            <a:ext cx="366705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Space Grotesk"/>
              </a:rPr>
              <a:t>Elastic 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3500" y="2428875"/>
            <a:ext cx="288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Combines L1 and L2 penalties via mixing parameter.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04950"/>
            <a:ext cx="53721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04950"/>
            <a:ext cx="53721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876550"/>
            <a:ext cx="53721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876550"/>
            <a:ext cx="53721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381000" y="609600"/>
            <a:ext cx="12954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Space Grotesk"/>
              </a:rPr>
              <a:t>Classification Topologies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09750"/>
            <a:ext cx="62507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Space Grotesk"/>
              </a:rPr>
              <a:t>Support Vector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52650"/>
            <a:ext cx="5953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Maximum margin boundary separation via Kernel tricks.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18097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Space Grotesk"/>
              </a:rPr>
              <a:t>Naïve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152650"/>
            <a:ext cx="5676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Probabilistic prediction assuming strict feature independence.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1350"/>
            <a:ext cx="62507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Space Grotesk"/>
              </a:rPr>
              <a:t>Decision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4250"/>
            <a:ext cx="5953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Entropy and Gini-impurity driven nodal splits.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1813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Space Grotesk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524250"/>
            <a:ext cx="5676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Ensemble decision aggregation mitigating single-tree overfitting.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696</Words>
  <Application>Microsoft Office PowerPoint</Application>
  <PresentationFormat>Widescreen</PresentationFormat>
  <Paragraphs>124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Space Grotesk</vt:lpstr>
      <vt:lpstr>Inter</vt:lpstr>
      <vt:lpstr>Playfair Display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SUNNY RAGHAV</dc:creator>
  <cp:keywords/>
  <dc:description>generated using python-pptx</dc:description>
  <cp:lastModifiedBy>Nehal Singh Raghav</cp:lastModifiedBy>
  <cp:revision>4</cp:revision>
  <dcterms:created xsi:type="dcterms:W3CDTF">2013-01-27T09:14:16Z</dcterms:created>
  <dcterms:modified xsi:type="dcterms:W3CDTF">2026-10-25T09:14:11Z</dcterms:modified>
  <cp:category/>
</cp:coreProperties>
</file>